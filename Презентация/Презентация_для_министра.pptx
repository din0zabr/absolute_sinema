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Суть одной фразой: машина снимает дорогу на ходу, сервер сам находит и меряет дефекты, сверяет с ГОСТ и готовит заявку на ремонт. Комплекс автономен, данные не покидают заказчика.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автомобиль-лаборатория (фото). Справа — шесть блоков системы; каждый блок раскрыт отдельным слайдом. Система замкнута: от снимка до заявки на ремонт без ручной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к съёмке, каждое привязано к измерительной задаче. Справа — схема серийной съёмки из ТЗ (серия кадров одной ямы) и реальная пара видов «перед/за» из архива проекта. Задняя камера обязательна: без неё глубина неизмерима физически.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Аргументация по каждому узлу на машине: камеры с мгновенным затвором — иначе смаз; задняя камера — иначе нет глубины; транспортный вычислитель — иначе зимой простои и потери кадров; жёсткий крепёж — иначе уплывает калибровка, а с ней сантиметры.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Обычного GPS мало: 3–10 м ошибки — это соседняя полоса или чужой дефект. RTK с собственной базовой станцией даёт ± 2 см. Каждый кадр несёт координату, точное время и курс; кадры дефекта собираются в один объект, адрес подставляется автоматически, повторные проезды ведут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Механика: калибровка делает геометрию съёмки известной — пиксели контура превращаются в сантиметры; глубина — из параллакса «перед/за»; при воде и смазе — честный отказ. Внизу реальные кадры: контур, оценка размеров и глубины, полевой контроль рулеткой (1–3 см — система дала 1,4 см).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требования, справа — что подтверждено испытаниями: полевой замер сошёлся с рейкой, стенд 21 из 21, 400+ автотестов. Система принципиально не выдумывает цифры.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Серверный контур: обработка смены за ночь, архив в двух копиях плюс независимое резервное хранилище, онлайн-ИБП. Отдельно — рабочее место оператора: контроль, спорные случаи, разметка для дообучения.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 по трём порогам ГОСТ; при неизмеренной глубине — честный статус «требуется замер». Путь заявки: срок по категории, уведомление ответственному, контроль статусов, реестр. Внизу — порядок ввода в эксплуатацию с контрольной сверкой поверенной рейкой.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Развитие: гражданам — приложение для фото дефектов на дорогах и тротуарах жилых зон, куда машина заезжает редко. Фото уходит на тот же сервер, нейросеть выполняет модерацию автоматически, заявитель видит статус до устранения. Доработка минимальна — вся платформа уже есть. Честная граница: телефонные фото не заменяют актирование.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РЕАЛИЗАЦИИ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Программно-аппаратный комплекс автоматизированного учёта дефектов дорожного покрытия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Автомобиль фотографирует дорогу на ходу — сервер находит выбоины, трещины и заплаты,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измеряет их, проверяет по ГОСТ Р 50597-2017 и формирует заявки на ремонт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   ·   комплекс автономен: обработка и хранение — у заказчика, данные во внешние сервисы не передаются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715000" cy="4023360"/>
          </a:xfrm>
          <a:prstGeom prst="roundRect">
            <a:avLst>
              <a:gd name="adj" fmla="val 2273"/>
            </a:avLst>
          </a:prstGeom>
          <a:solidFill>
            <a:srgbClr val="EEF2F8"/>
          </a:solidFill>
          <a:ln w="19050">
            <a:solidFill>
              <a:srgbClr val="D5DEE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85800" y="29260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Фотография автомобиля-лаборатории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(панорамные камеры на крыше)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53212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Автомобиль-лаборатория с камерами на крыше — источник данных системы: на серийную машину устанавливаются две измерительные камеры, навигация и бортовой вычислитель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0" y="1152144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0528" y="13350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8" name="Text 6"/>
          <p:cNvSpPr/>
          <p:nvPr/>
        </p:nvSpPr>
        <p:spPr>
          <a:xfrm>
            <a:off x="6510528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снимков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49047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промышленные камеры «перед/за» с мгновенным затвором; кадр каждые 3–5 м на скорости потока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0" y="1216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11696" y="1929384"/>
            <a:ext cx="0" cy="128016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2057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2240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23957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(10–15 ГБ) хранится на борту; в гараже сама уходит на сервер по Wi-Fi — без ручного переноса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89920" y="2121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2834640"/>
            <a:ext cx="0" cy="128016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2962656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31455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Локализация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30098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RTK-координата ± 2 см, точное время и курс в каждом кадре; адрес и полоса определяются автоматически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89920" y="3026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11696" y="3739896"/>
            <a:ext cx="0" cy="128016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0" y="3867912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40507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данных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2062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нейросеть: класс дефекта (5 типов), контур по краю, размеры в см, глубина с полосой погрешности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89920" y="3931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слайды 6–8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11696" y="4645152"/>
            <a:ext cx="0" cy="128016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0" y="4773168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4837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ГОСТ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40880" y="511149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порогов ГОСТ Р 50597-2017 — длина, глубина, площадь; срок устранения по категории дороги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89920" y="48371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11696" y="5550408"/>
            <a:ext cx="0" cy="128016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00800" y="5678424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58613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6305C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5861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088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на ремонт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40880" y="601675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ответственному за участок; контроль статусов до подтверждённого устранения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789920" y="57424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65105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дальнейшее развитие системы — слайд 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серии снимков дороги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 этапа — на автомобиле: две камеры в термокожухах, бортовой вычислитель, GNSS-приёмник (подробно — следующий слайд)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1 · Получение снимков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081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 каждые 3–5 м пути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6733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непрерывная съёмка в движении; за смену — 10–15 ГБ кадров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19456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 сериями, а не одиночными кадрами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49631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яма — в 6–10 кадрах с двух сторон; сомнительные кадры отбраковываются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01752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камеры: передняя и задняя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31927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ямы вычислима только из видов «перед» и «за»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8770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84048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Глобальный (мгновенный) затвор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" y="414223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60 км/ч машина проходит 17 мм за 1 мс — построчный затвор смазывает геометрию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7000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66344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Жёсткое крепление + калибровка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496519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откалиброванная камера — постоянный эталон масштаба: сантиметры на каждом кадре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55229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548640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Координаты, время и курс — в каждый кадр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7881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синхронизация по секундной метке приёмника; зона съёмки 2,5–8 м</a:t>
            </a:r>
            <a:endParaRPr lang="en-US" sz="1000" dirty="0"/>
          </a:p>
        </p:txBody>
      </p:sp>
      <p:pic>
        <p:nvPicPr>
          <p:cNvPr id="30" name="Image 0" descr="img/old_series_sc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417320"/>
            <a:ext cx="6537960" cy="2179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440680" y="3703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серийной съёмки из технического задания: 6–10 кадров одной ямы; маркерная доска задаёт масштаб и позы кадров. В бортовом исполнении серию образуют кадры «перед/за», а масштаб задаёт калибровка камер.</a:t>
            </a:r>
            <a:endParaRPr lang="en-US" sz="950" dirty="0"/>
          </a:p>
        </p:txBody>
      </p:sp>
      <p:pic>
        <p:nvPicPr>
          <p:cNvPr id="32" name="Image 1" descr="img/pair_fro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434840"/>
            <a:ext cx="1920240" cy="1715241"/>
          </a:xfrm>
          <a:prstGeom prst="rect">
            <a:avLst/>
          </a:prstGeom>
        </p:spPr>
      </p:pic>
      <p:pic>
        <p:nvPicPr>
          <p:cNvPr id="33" name="Image 2" descr="img/pair_bac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434840"/>
            <a:ext cx="1920240" cy="171524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509760" y="4709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яма — вид спереди и вид сзади (реальные кадры из архива проекта: 48 пар)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349240" y="6172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«перед»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7406640" y="6172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«за»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 автомобиля: что ставится и зачем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узел решает конкретную измерительную задачу — случайных позиций в комплекте нет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 1–2 · Съёмка и сбор данных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7" name="Image 0" descr="assets/ic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06424" y="1335024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камеры 12,3 Мп с мгновенным затвором — Hikrobot CS120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" y="1645920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передняя снимает яму до проезда, задняя — после: только эта пара видов позволяет измерить глубину; мгновенный затвор не смазывает кадр на ходу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6163056" y="1261872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1" name="Image 1" descr="assets/ic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335024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Объективы под рабочую дистанцию 2,5–8 м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58000" y="1645920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охватывают полосу движения целиком; детализация ~1–1,5 мм на пиксель — различимы тонкие трещины и фактура дна ямы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411480" y="2555748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5" name="Image 2" descr="assets/ic_hou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6547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6424" y="262890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Термокожухи с обогревом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06424" y="2939796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всесезонная работа: защита от дождя и снега, обогрев не даёт стеклу запотевать и обмерзать — оптика всегда прозрачна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6163056" y="2555748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9" name="Image 3" descr="assets/ic_ruggedp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665476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262890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Бортовой вычислитель транспортного исполнения — Neousys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858000" y="2939796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рассчитан на вибрацию и −25…+60 °C; питает обе камеры; при глушении двигателя корректно завершает запись — ни один кадр не теряется</a:t>
            </a:r>
            <a:endParaRPr lang="en-US" sz="930" dirty="0"/>
          </a:p>
        </p:txBody>
      </p:sp>
      <p:sp>
        <p:nvSpPr>
          <p:cNvPr id="22" name="Shape 16"/>
          <p:cNvSpPr/>
          <p:nvPr/>
        </p:nvSpPr>
        <p:spPr>
          <a:xfrm>
            <a:off x="411480" y="3849624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23" name="Image 4" descr="assets/ic_gn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5935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06424" y="3922776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GNSS-приёмник RTK с антенной на крыше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106424" y="4233672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вписывает в каждый кадр координату (± 2 см с поправками), точное время и курс — без этого дефект не привязать к адресу и полосе</a:t>
            </a:r>
            <a:endParaRPr lang="en-US" sz="930" dirty="0"/>
          </a:p>
        </p:txBody>
      </p:sp>
      <p:sp>
        <p:nvSpPr>
          <p:cNvPr id="26" name="Shape 19"/>
          <p:cNvSpPr/>
          <p:nvPr/>
        </p:nvSpPr>
        <p:spPr>
          <a:xfrm>
            <a:off x="6163056" y="3849624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27" name="Image 5" descr="assets/ic_ss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959352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3922776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Бортовой накопитель 4 ТБ (SSD)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858000" y="4233672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съёмки занимает 10–15 ГБ; накопителя хватает на неделю работы без выгрузки; твердотельный диск не боится тряски</a:t>
            </a:r>
            <a:endParaRPr lang="en-US" sz="930" dirty="0"/>
          </a:p>
        </p:txBody>
      </p:sp>
      <p:sp>
        <p:nvSpPr>
          <p:cNvPr id="30" name="Shape 22"/>
          <p:cNvSpPr/>
          <p:nvPr/>
        </p:nvSpPr>
        <p:spPr>
          <a:xfrm>
            <a:off x="411480" y="5143500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31" name="Image 6" descr="assets/ic_bra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5253228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06424" y="521665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Жёсткая платформа с виброопорами, герметичные кабели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106424" y="5527548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неподвижность камер сохраняет калибровку, а калибровка — источник сантиметров; гермовводы держат мойку, дождь и реагенты</a:t>
            </a:r>
            <a:endParaRPr lang="en-US" sz="930" dirty="0"/>
          </a:p>
        </p:txBody>
      </p:sp>
      <p:sp>
        <p:nvSpPr>
          <p:cNvPr id="34" name="Shape 25"/>
          <p:cNvSpPr/>
          <p:nvPr/>
        </p:nvSpPr>
        <p:spPr>
          <a:xfrm>
            <a:off x="6163056" y="5143500"/>
            <a:ext cx="5614416" cy="1170432"/>
          </a:xfrm>
          <a:prstGeom prst="roundRect">
            <a:avLst>
              <a:gd name="adj" fmla="val 5469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35" name="Image 7" descr="assets/ic_tool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5253228"/>
            <a:ext cx="457200" cy="4572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858000" y="521665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калибровка по мишеням (с протоколом)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858000" y="5527548"/>
            <a:ext cx="4773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 фиксирует фокус, высоту и наклон каждой камеры — съёмочная система становится измерительным прибором</a:t>
            </a:r>
            <a:endParaRPr lang="en-US" sz="930" dirty="0"/>
          </a:p>
        </p:txBody>
      </p:sp>
      <p:sp>
        <p:nvSpPr>
          <p:cNvPr id="38" name="Text 28"/>
          <p:cNvSpPr/>
          <p:nvPr/>
        </p:nvSpPr>
        <p:spPr>
          <a:xfrm>
            <a:off x="411480" y="6400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Штативы и съёмные карты памяти в комплексе не применяются: камеры закреплены неподвижно (это условие точности), запись идёт на встроенный накопитель. Полный состав оборудования — в закупочной ведомости (приложение к смете).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Локализация: точная координата и адрес каждой ямы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 этапа: RTK-приёмник с антенной на автомобиле + собственная базовая станция у гаража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3 · Локализация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2984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RTK, а не обычный GPS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бытовой приёмник ошибается на 3–10 м: дефект «прыгает» между полосами, повторные проезды не сшиваются; RTK даёт ± 2 см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157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базовая станция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4597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неподвижный приёмник с известной координатой вычисляет поправки для машины во всей зоне работ — без сторонних сервисов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0175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и курс — в каждом кадре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319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секундная метка синхронизирует кадр и координату: при 60 км/ч ошибка даже в 0,1 с — уже 1,7 м; курс определяет полосу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13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8770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Кадры одного дефекта — в один объект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" y="4178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 по координатам и курсу: серии «перед/за» собираются в объект учёта автоматически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7731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73659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 — автоматически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50383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обратное геокодирование по локальному справочнику: улица, дом, полоса и направление — в ведомость и уведомление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56327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5632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55961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дефекта между проездами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897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повторный проезд по гео-ключу обновляет тот же объект: виден рост ямы, устранение подтверждается свежим кадром</a:t>
            </a:r>
            <a:endParaRPr lang="en-US" sz="1000" dirty="0"/>
          </a:p>
        </p:txBody>
      </p:sp>
      <p:pic>
        <p:nvPicPr>
          <p:cNvPr id="30" name="Image 0" descr="assets/localization_sc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98448"/>
            <a:ext cx="5486400" cy="462337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фотографий: как нейросеть меряет дефекты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4 · Анализ данных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1630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Детекция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0280" y="1280160"/>
            <a:ext cx="77724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18004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16305C"/>
          </a:solidFill>
          <a:ln/>
        </p:spPr>
      </p:sp>
      <p:sp>
        <p:nvSpPr>
          <p:cNvPr id="9" name="Text 7"/>
          <p:cNvSpPr/>
          <p:nvPr/>
        </p:nvSpPr>
        <p:spPr>
          <a:xfrm>
            <a:off x="2318004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Контур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46804" y="1280160"/>
            <a:ext cx="77724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24528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16305C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Размеры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280160"/>
            <a:ext cx="77724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31052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16305C"/>
          </a:solidFill>
          <a:ln/>
        </p:spPr>
      </p:sp>
      <p:sp>
        <p:nvSpPr>
          <p:cNvPr id="15" name="Text 13"/>
          <p:cNvSpPr/>
          <p:nvPr/>
        </p:nvSpPr>
        <p:spPr>
          <a:xfrm>
            <a:off x="6131052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Глубина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9852" y="1280160"/>
            <a:ext cx="77724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37576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8037576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Вердикт ГОСТ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66376" y="1280160"/>
            <a:ext cx="77724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4100" y="1078992"/>
            <a:ext cx="1828800" cy="402336"/>
          </a:xfrm>
          <a:prstGeom prst="roundRect">
            <a:avLst>
              <a:gd name="adj" fmla="val 15909"/>
            </a:avLst>
          </a:prstGeom>
          <a:solidFill>
            <a:srgbClr val="16305C"/>
          </a:solidFill>
          <a:ln/>
        </p:spPr>
      </p:sp>
      <p:sp>
        <p:nvSpPr>
          <p:cNvPr id="21" name="Text 19"/>
          <p:cNvSpPr/>
          <p:nvPr/>
        </p:nvSpPr>
        <p:spPr>
          <a:xfrm>
            <a:off x="9944100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Отчёт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1664208"/>
            <a:ext cx="5614416" cy="2560320"/>
          </a:xfrm>
          <a:prstGeom prst="roundRect">
            <a:avLst>
              <a:gd name="adj" fmla="val 321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УСТАНАВЛИВАЕТСЯ РАЗМЕР ЯМЫ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21762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" y="215798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 по мишеням фиксирует фокус, высоту и наклон камер — геометрия съёмки известна точно и не меняется.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67512" y="28529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9848" y="283464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каждой точке дорожного полотна в кадре соответствует известный масштаб — миллиметры на пиксель.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67512" y="3529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" y="35112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 обводит контур дефекта по пикселям → длина, ширина и площадь пересчитываются в сантиметры, к каждому числу — полоса погрешности.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163056" y="1664208"/>
            <a:ext cx="5614416" cy="2560320"/>
          </a:xfrm>
          <a:prstGeom prst="roundRect">
            <a:avLst>
              <a:gd name="adj" fmla="val 3214"/>
            </a:avLst>
          </a:prstGeom>
          <a:solidFill>
            <a:srgbClr val="E7F2E8"/>
          </a:solidFill>
          <a:ln w="12700">
            <a:solidFill>
              <a:srgbClr val="BFDC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ИЗМЕРЯЕТСЯ ГЛУБИНА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19088" y="21762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21424" y="215798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видах «перед» и «за» дно ямы смещено в противоположные стороны; величина смещения растёт с глубиной (параллакс).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419088" y="28529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21424" y="283464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Кадры совмещаются по целому асфальту вокруг ямы, смещение дна пересчитывается в глубину dz с полосой погрешности.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419088" y="3529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21424" y="35112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в яме, смаз, сомнительная геометрия — честный отказ от оценки со статусом «требуется замер», а не угадывание.</a:t>
            </a:r>
            <a:endParaRPr lang="en-US" sz="980" dirty="0"/>
          </a:p>
        </p:txBody>
      </p:sp>
      <p:pic>
        <p:nvPicPr>
          <p:cNvPr id="44" name="Image 0" descr="img/slide02_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26280"/>
            <a:ext cx="1828800" cy="18288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74320" y="64099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— точно по краю выбоины</a:t>
            </a:r>
            <a:endParaRPr lang="en-US" sz="850" dirty="0"/>
          </a:p>
        </p:txBody>
      </p:sp>
      <p:pic>
        <p:nvPicPr>
          <p:cNvPr id="46" name="Image 1" descr="img/est_dept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4725619"/>
            <a:ext cx="3291840" cy="1629461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423160" y="6409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кадр системы: ширина ~78 см, глубина ~2,1 см (оценка с полосой)</a:t>
            </a:r>
            <a:endParaRPr lang="en-US" sz="850" dirty="0"/>
          </a:p>
        </p:txBody>
      </p:sp>
      <p:pic>
        <p:nvPicPr>
          <p:cNvPr id="48" name="Image 2" descr="img/field_measu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526280"/>
            <a:ext cx="1163782" cy="182880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5715000" y="64099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полевой контроль рулеткой: 1–3 см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7360920" y="4526280"/>
            <a:ext cx="441655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580376" y="4636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РАСПОЗНАЁТ НЕЙРОСЕТЬ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7580376" y="4928616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классов: выбоина · трещина продольная · поперечная · сетка трещин · заплата.
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— на десятках тысяч дорожных фото; дообучение на местных кадрах адаптирует к покрытию региона. Тонкие трещины выделяются в полном разрешении кадра. Слева — реальные кадры, не макеты.</a:t>
            </a:r>
            <a:endParaRPr lang="en-US" sz="930" dirty="0"/>
          </a:p>
        </p:txBody>
      </p:sp>
      <p:sp>
        <p:nvSpPr>
          <p:cNvPr id="53" name="Text 48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Нейросеть: требования и подтверждённые возможности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4 · Анализ данных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5614416" cy="4517136"/>
          </a:xfrm>
          <a:prstGeom prst="roundRect">
            <a:avLst>
              <a:gd name="adj" fmla="val 1822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ДЛЯ ЭКСПЛУАТАЦИИ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1728216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6420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Находить 5 классов дефектов на бортовых кадрах: выбоины, трещины (продольные, поперечные, сетка), заплаты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386584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225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 в сантиметрах на каждом кадре — масштаб от калиброванных камер, без эталонных предметов в кадре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44952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8094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в см с полосой погрешности; сверка с поверенной рейкой на 10–15 ямах, расхождение ≤ 1–2 см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703320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63931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 ГОСТ Р 50597-2017 и срок устранения — автоматически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4361688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9768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кадров смены — за ночь на одном сервере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5020056"/>
            <a:ext cx="118872" cy="118872"/>
          </a:xfrm>
          <a:prstGeom prst="rect">
            <a:avLst/>
          </a:prstGeom>
          <a:solidFill>
            <a:srgbClr val="16305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5604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на местных фотографиях — под дороги региона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1115568"/>
            <a:ext cx="5614416" cy="4517136"/>
          </a:xfrm>
          <a:prstGeom prst="roundRect">
            <a:avLst>
              <a:gd name="adj" fmla="val 1822"/>
            </a:avLst>
          </a:prstGeom>
          <a:solidFill>
            <a:srgbClr val="E7F2E8"/>
          </a:solidFill>
          <a:ln w="12700">
            <a:solidFill>
              <a:srgbClr val="BFD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26187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УЖЕ СЕЙЧАС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64808" y="1728216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696" y="166420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Детекция, контур и вердикт работают целиком: проверено на 48 ямах; 0,2–5 с на кадр на обычном процессоре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64808" y="2386584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23225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 при эталонном предмете в кадре — точность ± 10–20 %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64808" y="3044952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711696" y="298094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сегодня: категория «мелкая / средняя / глубокая» + оценка в см с полосой погрешности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64808" y="3703320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363931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Полевой замер: система — 1,4 см, факт по рейке — 1–3 см (яма № 012)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64808" y="4361688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429768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метода «перед/за»: 21 сценарий из 21, ошибка 0,0–0,3 см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64808" y="5020056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711696" y="495604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честности: система не выдаёт числа, которых физически не может знать — 0 выдуманных сантиметров; 400+ автотестов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5779008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DEBD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7790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ввода в эксплуатацию (пилотный маршрут): </a:t>
            </a:r>
            <a:pPr indent="0" marL="0">
              <a:buNone/>
            </a:pPr>
            <a:r>
              <a:rPr lang="en-US" sz="11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на местных кадрах (снижение ложных срабатываний) и полевая поверка глубины рейкой на 10–15 ямах.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Серверное оборудование и рабочее место оператора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размещается в помещении заказчика; обработка и архив — только в его контуре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 2 и 4 · Сбор и анализ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7" name="Image 0" descr="assets/ic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138988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обработки данных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" y="1956816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16-ядерный процессор и видеокарта: за ночь пересчитывает всю смену — тысячи кадров; видеокарта ускоряет нейросеть в десятки раз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251960" y="1298448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1" name="Image 1" descr="assets/ic_s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138988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Хранилище: быстрый диск + зеркало 2×16 ТБ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98264" y="1956816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учёта — на быстром диске; каждый кадр дефекта — в двух копиях: фотофиксация является доказательной базой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092440" y="1298448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5" name="Image 2" descr="assets/ic_u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4173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69096" y="138988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ИБП с двойным преобразованием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38744" y="1956816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и база не замечают скачков и отключений сети — ночная обработка идёт без присмотра и без потерь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411480" y="3072384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19" name="Image 3" descr="assets/ic_n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91256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88136" y="31638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Отдельное резервное хранилище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57784" y="3730752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независимая копия архива и базы вне сервера: поломка, пожар или кража сервера не уничтожают накопленные данные</a:t>
            </a:r>
            <a:endParaRPr lang="en-US" sz="930" dirty="0"/>
          </a:p>
        </p:txBody>
      </p:sp>
      <p:sp>
        <p:nvSpPr>
          <p:cNvPr id="22" name="Shape 16"/>
          <p:cNvSpPr/>
          <p:nvPr/>
        </p:nvSpPr>
        <p:spPr>
          <a:xfrm>
            <a:off x="4251960" y="3072384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23" name="Image 4" descr="assets/ic_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191256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8616" y="31638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гаража: Wi-Fi точка + мост на стоянку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398264" y="3730752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машина в гараже сама отдаёт смену серверу — исключён человеческий фактор «забытого диска»</a:t>
            </a:r>
            <a:endParaRPr lang="en-US" sz="930" dirty="0"/>
          </a:p>
        </p:txBody>
      </p:sp>
      <p:sp>
        <p:nvSpPr>
          <p:cNvPr id="26" name="Shape 19"/>
          <p:cNvSpPr/>
          <p:nvPr/>
        </p:nvSpPr>
        <p:spPr>
          <a:xfrm>
            <a:off x="8092440" y="3072384"/>
            <a:ext cx="3657600" cy="1627632"/>
          </a:xfrm>
          <a:prstGeom prst="roundRect">
            <a:avLst>
              <a:gd name="adj" fmla="val 4494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pic>
        <p:nvPicPr>
          <p:cNvPr id="27" name="Image 5" descr="assets/ic_workst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191256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69096" y="31638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оператора: ПК + два монитора 4K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238744" y="3730752"/>
            <a:ext cx="33649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Зачем: </a:t>
            </a:r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реестра и карты, разбор спорных дефектов, разметка кадров для дообучения; не конкурирует с ночным счётом сервера</a:t>
            </a:r>
            <a:endParaRPr lang="en-US" sz="930" dirty="0"/>
          </a:p>
        </p:txBody>
      </p:sp>
      <p:sp>
        <p:nvSpPr>
          <p:cNvPr id="30" name="Shape 22"/>
          <p:cNvSpPr/>
          <p:nvPr/>
        </p:nvSpPr>
        <p:spPr>
          <a:xfrm>
            <a:off x="411480" y="5029200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11480" y="502920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смены по Wi-Fi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081528" y="5266944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3300984" y="5029200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300984" y="502920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 считает за ночь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971032" y="5266944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6190488" y="5029200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190488" y="502920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дефектов + карта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8860536" y="5266944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9079992" y="5029200"/>
            <a:ext cx="2670048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079992" y="502920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 ответственным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11480" y="574243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утру после смены реестр пополнен: новые дефекты — на карте, уведомления — у ответственных. Фотоматериалы и реестр не передаются во внешние сервисы; полный состав оборудования — в закупочной ведомости (приложение).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и заявка на ремонт — ГОСТ Р 50597-2017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9692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532120" cy="585216"/>
          </a:xfrm>
          <a:prstGeom prst="roundRect">
            <a:avLst>
              <a:gd name="adj" fmla="val 10938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98448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Измерения дефекта:  </a:t>
            </a:r>
            <a:pPr indent="0" marL="0">
              <a:buNone/>
            </a:pPr>
            <a:r>
              <a:rPr lang="en-US" sz="10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· площадь · глубина (с полосой погрешности)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77540" y="1883664"/>
            <a:ext cx="0" cy="201168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2084832"/>
            <a:ext cx="5532120" cy="731520"/>
          </a:xfrm>
          <a:prstGeom prst="roundRect">
            <a:avLst>
              <a:gd name="adj" fmla="val 8750"/>
            </a:avLst>
          </a:prstGeom>
          <a:solidFill>
            <a:srgbClr val="16305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8483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Предельные значения (табл. 5.3 ГОСТ):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≥ 15 см   ·   глубина ≥ 5 см   ·   площадь ≥ 0,06 м²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7540" y="2816352"/>
            <a:ext cx="0" cy="201168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" y="3017520"/>
            <a:ext cx="1770888" cy="1188720"/>
          </a:xfrm>
          <a:prstGeom prst="roundRect">
            <a:avLst>
              <a:gd name="adj" fmla="val 5385"/>
            </a:avLst>
          </a:prstGeom>
          <a:solidFill>
            <a:srgbClr val="FDEBDD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099816"/>
            <a:ext cx="1624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Превышены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392424"/>
            <a:ext cx="1624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соответствует ГОСТ → заявка на ремонт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92096" y="3017520"/>
            <a:ext cx="1770888" cy="1188720"/>
          </a:xfrm>
          <a:prstGeom prst="roundRect">
            <a:avLst>
              <a:gd name="adj" fmla="val 5385"/>
            </a:avLst>
          </a:prstGeom>
          <a:solidFill>
            <a:srgbClr val="E7F2E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5248" y="3099816"/>
            <a:ext cx="1624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допуске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65248" y="3392424"/>
            <a:ext cx="1624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соответствует — остаётся под наблюдением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2712" y="3017520"/>
            <a:ext cx="1770888" cy="1188720"/>
          </a:xfrm>
          <a:prstGeom prst="roundRect">
            <a:avLst>
              <a:gd name="adj" fmla="val 5385"/>
            </a:avLst>
          </a:prstGeom>
          <a:solidFill>
            <a:srgbClr val="F0F2F5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5864" y="3099816"/>
            <a:ext cx="1624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не измерена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45864" y="3392424"/>
            <a:ext cx="1624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статус «требуется замер» — без выдуманных цифр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9692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НА РЕМОНТ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298448"/>
            <a:ext cx="5532120" cy="585216"/>
          </a:xfrm>
          <a:prstGeom prst="roundRect">
            <a:avLst>
              <a:gd name="adj" fmla="val 10938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298448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устранения — по категории дороги: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IА — 1 сут · IБ — 3 · II — 5 · III — 7 · IV — 10 · V — 12;  опасный участок — обозначить за 2 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1883664"/>
            <a:ext cx="0" cy="155448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039112"/>
            <a:ext cx="5532120" cy="585216"/>
          </a:xfrm>
          <a:prstGeom prst="roundRect">
            <a:avLst>
              <a:gd name="adj" fmla="val 10938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2039112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ответственному за участок: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адрес, координаты, фото с контуром, вердикт, срок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2624328"/>
            <a:ext cx="0" cy="155448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2779776"/>
            <a:ext cx="5532120" cy="585216"/>
          </a:xfrm>
          <a:prstGeom prst="roundRect">
            <a:avLst>
              <a:gd name="adj" fmla="val 10938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779776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исполнения: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«новая → в работе → устранена», устранение подтверждается повторным кадром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3364992"/>
            <a:ext cx="0" cy="155448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63640" y="3520440"/>
            <a:ext cx="5532120" cy="585216"/>
          </a:xfrm>
          <a:prstGeom prst="roundRect">
            <a:avLst>
              <a:gd name="adj" fmla="val 10938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520440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и отчётность: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ведомость дефектов, выгрузка в CSV, материалы для акта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ВВОДА В ЭКСПЛУАТАЦИЮ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974336"/>
            <a:ext cx="267004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5065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Монтаж и калибровка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" y="5358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на автомобиль, протокол калибровки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3081528" y="5385816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300984" y="4974336"/>
            <a:ext cx="267004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5065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Пилотный маршрут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29000" y="5358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проезд по улицам с известными дефектами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971032" y="5385816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90488" y="4974336"/>
            <a:ext cx="267004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5065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Контрольная сверка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18504" y="5358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ям поверенной рейкой, допуск 1–2 см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860536" y="5385816"/>
            <a:ext cx="219456" cy="0"/>
          </a:xfrm>
          <a:prstGeom prst="line">
            <a:avLst/>
          </a:prstGeom>
          <a:noFill/>
          <a:ln w="19050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79992" y="4974336"/>
            <a:ext cx="267004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445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08008" y="5065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Рабочая эксплуатация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208008" y="535838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проезды, реестр, заявки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411480" y="605332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Особенность подхода: система никогда не выдаёт числа, которых физически не может знать, — спорный дефект получает статус «требуется замер», а не выдуманную глубину.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Дальнейшее развитие: приложение для граждан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охват дворов, проездов и тротуаров жилых зон, куда автомобиль-лаборатория заезжает редко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91295" y="329184"/>
            <a:ext cx="2788920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91295" y="3291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проекта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538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Народный контроль как источник данных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72821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житель фотографирует яму на дороге или тротуаре в приложении — фото с координатами уходит на тот же сервер комплекса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780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нейросетью, а не модератором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75234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снимки без дефекта отсеиваются автоматически; повторные фото той же ямы приклеиваются к существующему объекту и его истории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5021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4655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заявителю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7764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жителю виден статус его заявки: «принята → в работе → устранена»; устранение подтверждается фотографией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5262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305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44897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доработка системы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" y="48006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сервер, нейросеть, реестр и уведомления уже построены — приложение лишь добавляет новый канал приёма фотографий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141732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5087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Житель: фото дефекта в приложении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20840" y="1819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 и время — автоматически из телефона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40880" y="2203704"/>
            <a:ext cx="0" cy="256032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24597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5511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Сервер: проверка нейросетью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20840" y="286207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дефекта, контур; случайные и повторные фото отсеиваются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3246120"/>
            <a:ext cx="0" cy="256032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37960" y="350215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EEF2F8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5935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Реестр: постановка на учёт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20840" y="39044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объект — или привязка к уже известному дефекту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40880" y="4288536"/>
            <a:ext cx="0" cy="256032"/>
          </a:xfrm>
          <a:prstGeom prst="line">
            <a:avLst/>
          </a:prstGeom>
          <a:noFill/>
          <a:ln w="22225">
            <a:solidFill>
              <a:srgbClr val="24457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37960" y="454456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E7F2E8"/>
          </a:solidFill>
          <a:ln w="12700">
            <a:solidFill>
              <a:srgbClr val="BFD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6360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и контроль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20840" y="49469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ответственному — заявка; заявителю — статус до устранения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580644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DEBDD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8064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граница: </a:t>
            </a:r>
            <a:pPr indent="0" marL="0">
              <a:buNone/>
            </a:pPr>
            <a:r>
              <a:rPr lang="en-US" sz="1150" dirty="0">
                <a:solidFill>
                  <a:srgbClr val="26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 с телефона — ориентировочные (телефон не калиброван); для актирования по ГОСТ выезжает автомобиль-лаборатория или замерщик с поверенной рейкой.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231575" y="6528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2026-08-17T20:54:28Z</dcterms:created>
  <dcterms:modified xsi:type="dcterms:W3CDTF">2026-08-17T20:54:28Z</dcterms:modified>
</cp:coreProperties>
</file>