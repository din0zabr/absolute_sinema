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4584720_5.jpg"/><Relationship Id="rId3" Type="http://schemas.openxmlformats.org/officeDocument/2006/relationships/image" Target="../media/image_s2890724584720_7.jpg"/><Relationship Id="rId4" Type="http://schemas.openxmlformats.org/officeDocument/2006/relationships/image" Target="../media/image_s2890724584720_9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6794512_5.jpg"/><Relationship Id="rId3" Type="http://schemas.openxmlformats.org/officeDocument/2006/relationships/image" Target="../media/image_s2890726794512_7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5707088_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7305488_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7305424_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6298320_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6388688_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4084048_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s2890727305168_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1656000"/>
            <a:ext cx="11304000" cy="79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ctr">
              <a:spcAft>
                <a:spcPts val="0"/>
              </a:spcAft>
              <a:buNone/>
            </a:pPr>
            <a:r>
              <a:rPr lang="ru-RU" sz="4000" b="1" dirty="0">
                <a:solidFill>
                  <a:srgbClr val="151A21"/>
                </a:solidFill>
                <a:latin typeface="Segoe UI"/>
                <a:cs typeface="Segoe UI"/>
              </a:rPr>
              <a:t>Дорожные дефекты глазами модели</a:t>
            </a:r>
          </a:p>
        </p:txBody>
      </p:sp>
      <p:sp>
        <p:nvSpPr>
          <p:cNvPr id="3" name="t3"/>
          <p:cNvSpPr txBox="1"/>
          <p:nvPr/>
        </p:nvSpPr>
        <p:spPr>
          <a:xfrm>
            <a:off x="1440000" y="2592000"/>
            <a:ext cx="9288000" cy="648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ctr">
              <a:spcAft>
                <a:spcPts val="0"/>
              </a:spcAft>
              <a:buNone/>
            </a:pPr>
            <a:r>
              <a:rPr lang="ru-RU" sz="1500" b="0" dirty="0">
                <a:solidFill>
                  <a:srgbClr val="5B6673"/>
                </a:solidFill>
                <a:latin typeface="Segoe UI"/>
                <a:cs typeface="Segoe UI"/>
              </a:rPr>
              <a:t>Офлайн-движок учёта дефектов по фото: детекция, контуры, вердикт ГОСТ Р 50597 — и честный путь к глубине в сантиметрах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48×2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пары «яма с двух сторон»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5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классов дефектов по ГОСТ</a:t>
            </a:r>
          </a:p>
        </p:txBody>
      </p:sp>
      <p:sp>
        <p:nvSpPr>
          <p:cNvPr id="6" name="t6"/>
          <p:cNvSpPr txBox="1"/>
          <p:nvPr/>
        </p:nvSpPr>
        <p:spPr>
          <a:xfrm>
            <a:off x="63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0,2–5 с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на фото, CPU</a:t>
            </a:r>
          </a:p>
        </p:txBody>
      </p:sp>
      <p:sp>
        <p:nvSpPr>
          <p:cNvPr id="7" name="t7"/>
          <p:cNvSpPr txBox="1"/>
          <p:nvPr/>
        </p:nvSpPr>
        <p:spPr>
          <a:xfrm>
            <a:off x="9000000" y="3816000"/>
            <a:ext cx="2484000" cy="1080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ctr"/>
          <a:lstStyle/>
          <a:p>
            <a:pPr algn="ctr">
              <a:spcAft>
                <a:spcPts val="400"/>
              </a:spcAft>
              <a:buNone/>
            </a:pPr>
            <a:r>
              <a:rPr lang="ru-RU" sz="2400" b="1" dirty="0">
                <a:solidFill>
                  <a:srgbClr val="151A21"/>
                </a:solidFill>
                <a:latin typeface="Segoe UI"/>
                <a:cs typeface="Segoe UI"/>
              </a:rPr>
              <a:t>0</a:t>
            </a:r>
          </a:p>
          <a:p>
            <a:pPr algn="ctr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выдуманных см без эталона</a:t>
            </a:r>
          </a:p>
        </p:txBody>
      </p:sp>
      <p:sp>
        <p:nvSpPr>
          <p:cNvPr id="8" name="t8"/>
          <p:cNvSpPr txBox="1"/>
          <p:nvPr/>
        </p:nvSpPr>
        <p:spPr>
          <a:xfrm>
            <a:off x="432000" y="6336000"/>
            <a:ext cx="11304000" cy="3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ctr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Road Defect Engine · 15.07.2026 · всё офлайн, обычный ноутбук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Что модель видит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Найденные дефекты обведены прямо на фото — контур, класс, уверенность.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260000"/>
            <a:ext cx="3600000" cy="3600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32000" y="4914000"/>
            <a:ext cx="3600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Выбоина с оголённым щебнем; контур точно по краю.</a:t>
            </a:r>
          </a:p>
        </p:txBody>
      </p:sp>
      <p:pic>
        <p:nvPicPr>
          <p:cNvPr id="7" name="p7"/>
          <p:cNvPicPr/>
          <p:nvPr/>
        </p:nvPicPr>
        <p:blipFill>
          <a:blip r:embed="rId3"/>
          <a:stretch>
            <a:fillRect/>
          </a:stretch>
        </p:blipFill>
        <p:spPr>
          <a:xfrm>
            <a:off x="4284000" y="1260000"/>
            <a:ext cx="3600000" cy="4607022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8" name="t8"/>
          <p:cNvSpPr txBox="1"/>
          <p:nvPr/>
        </p:nvSpPr>
        <p:spPr>
          <a:xfrm>
            <a:off x="4284000" y="5454000"/>
            <a:ext cx="3600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Яма и сеть трещин в одном кадре — несколько классов сразу.</a:t>
            </a:r>
          </a:p>
        </p:txBody>
      </p:sp>
      <p:pic>
        <p:nvPicPr>
          <p:cNvPr id="9" name="p9"/>
          <p:cNvPicPr/>
          <p:nvPr/>
        </p:nvPicPr>
        <p:blipFill>
          <a:blip r:embed="rId4"/>
          <a:stretch>
            <a:fillRect/>
          </a:stretch>
        </p:blipFill>
        <p:spPr>
          <a:xfrm>
            <a:off x="8136000" y="1260000"/>
            <a:ext cx="3600000" cy="4159551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10" name="t10"/>
          <p:cNvSpPr txBox="1"/>
          <p:nvPr/>
        </p:nvSpPr>
        <p:spPr>
          <a:xfrm>
            <a:off x="8136000" y="5454000"/>
            <a:ext cx="3600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050" b="0" dirty="0">
                <a:solidFill>
                  <a:srgbClr val="5B6673"/>
                </a:solidFill>
                <a:latin typeface="Segoe UI"/>
                <a:cs typeface="Segoe UI"/>
              </a:rPr>
              <a:t>Продольная трещина: тонкая структура в полном разрешении.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Одна яма — два ракурса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Каждую яму снимают спереди и сзади: модель находит её в обоих кадрах и связывает как один объект (Яма A · чистая пара).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332000"/>
            <a:ext cx="5508000" cy="4919984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32000" y="5778000"/>
            <a:ext cx="5508000" cy="3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вид спереди · весь кадр</a:t>
            </a:r>
          </a:p>
        </p:txBody>
      </p:sp>
      <p:pic>
        <p:nvPicPr>
          <p:cNvPr id="7" name="p7"/>
          <p:cNvPicPr/>
          <p:nvPr/>
        </p:nvPicPr>
        <p:blipFill>
          <a:blip r:embed="rId3"/>
          <a:stretch>
            <a:fillRect/>
          </a:stretch>
        </p:blipFill>
        <p:spPr>
          <a:xfrm>
            <a:off x="6228000" y="1332000"/>
            <a:ext cx="5508000" cy="4919984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8" name="t8"/>
          <p:cNvSpPr txBox="1"/>
          <p:nvPr/>
        </p:nvSpPr>
        <p:spPr>
          <a:xfrm>
            <a:off x="6228000" y="5778000"/>
            <a:ext cx="5508000" cy="32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B6673"/>
                </a:solidFill>
                <a:latin typeface="Segoe UI"/>
                <a:cs typeface="Segoe UI"/>
              </a:rPr>
              <a:t>вид сзади · весь кадр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Глубина: что уже подтверждено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Полевая проверка набора из 48 ям — реальные глубины 1–3 см.</a:t>
            </a:r>
          </a:p>
        </p:txBody>
      </p:sp>
      <p:pic>
        <p:nvPicPr>
          <p:cNvPr id="5" name="p5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3344727" cy="5256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6" name="t6"/>
          <p:cNvSpPr txBox="1"/>
          <p:nvPr/>
        </p:nvSpPr>
        <p:spPr>
          <a:xfrm>
            <a:off x="4100727" y="1296000"/>
            <a:ext cx="7380000" cy="5040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Полевой замер ямы 012: перепад 1–3 см.</a:t>
            </a:r>
          </a:p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Фотограмметрический прототип по двум встречным кадрам: 1,4 см [1,25–1,57] — попадание в полевой диапазон.</a:t>
            </a:r>
          </a:p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Честная оговорка: это единственная из 95 попыток на архиве, прошедшая все проверки геометрии. Точность выигрывается протоколом съёмки, а не дорисовывается софтом.</a:t>
            </a:r>
          </a:p>
          <a:p>
            <a:pPr algn="l">
              <a:spcAft>
                <a:spcPts val="1000"/>
              </a:spcAft>
              <a:buNone/>
            </a:pPr>
            <a:r>
              <a:rPr lang="ru-RU" sz="1400" b="0" dirty="0">
                <a:solidFill>
                  <a:srgbClr val="151A21"/>
                </a:solidFill>
                <a:latin typeface="Segoe UI"/>
                <a:cs typeface="Segoe UI"/>
              </a:rPr>
              <a:t>•  Во всех 39 парах с найденной ямой система сказала «мелкая» — полевая проверка это подтвердила. Сантиметры без основания не выдуманы ни разу.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Почему фото само по себе не даёт сантиметров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422016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524616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Слева: кадр фиксирует только углы — без эталона или известной геометрии съёмки масштаб не восстановим (у пары с рук неизвестна база B). Справа: чтение вертикальной рулетки с косого кадра завышает глубину — механизм отозванных «7 см» при реальных 1–3 см.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Как мы придём к сантиметрам глубины</a:t>
            </a:r>
          </a:p>
        </p:txBody>
      </p:sp>
      <p:sp>
        <p:nvSpPr>
          <p:cNvPr id="4" name="t4"/>
          <p:cNvSpPr txBox="1"/>
          <p:nvPr/>
        </p:nvSpPr>
        <p:spPr>
          <a:xfrm>
            <a:off x="900000" y="702000"/>
            <a:ext cx="10872000" cy="39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Три ступени — от ручного замера к съёмке с борта. У каждой — схема, формула и полоса точности (следующие слайды).</a:t>
            </a:r>
          </a:p>
        </p:txBody>
      </p:sp>
      <p:sp>
        <p:nvSpPr>
          <p:cNvPr id="5" name="t5"/>
          <p:cNvSpPr txBox="1"/>
          <p:nvPr/>
        </p:nvSpPr>
        <p:spPr>
          <a:xfrm>
            <a:off x="432000" y="1296000"/>
            <a:ext cx="3600000" cy="3456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Этап 1 · Рейка + рулетка</a:t>
            </a:r>
          </a:p>
          <a:p>
            <a:pPr algn="l">
              <a:spcAft>
                <a:spcPts val="800"/>
              </a:spcAft>
              <a:buNone/>
            </a:pPr>
            <a:r>
              <a:rPr lang="ru-RU" sz="1400" b="1" dirty="0">
                <a:solidFill>
                  <a:srgbClr val="2A8F4D"/>
                </a:solidFill>
                <a:latin typeface="Segoe UI"/>
                <a:cs typeface="Segoe UI"/>
              </a:rPr>
              <a:t>±0,5–1 см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Ближайшие выезды. Кадр точки касания читается автоматически; ненадёжный кадр получает отказ с причиной. Протокол утверждён, алгоритм спроектирован.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66000" y="1296000"/>
            <a:ext cx="3600000" cy="3456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Этап 2 · Серия + маркерная доска</a:t>
            </a:r>
          </a:p>
          <a:p>
            <a:pPr algn="l">
              <a:spcAft>
                <a:spcPts val="800"/>
              </a:spcAft>
              <a:buNone/>
            </a:pPr>
            <a:r>
              <a:rPr lang="ru-RU" sz="1400" b="1" dirty="0">
                <a:solidFill>
                  <a:srgbClr val="2A8F4D"/>
                </a:solidFill>
                <a:latin typeface="Segoe UI"/>
                <a:cs typeface="Segoe UI"/>
              </a:rPr>
              <a:t>цель ±1–2 см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Целевой ручной режим (режим D ТЗ): 6–10 кадров при обходе ямы, доска даёт масштаб и позы. Глубина — без рулетки в яме.</a:t>
            </a:r>
          </a:p>
        </p:txBody>
      </p:sp>
      <p:sp>
        <p:nvSpPr>
          <p:cNvPr id="7" name="t7"/>
          <p:cNvSpPr txBox="1"/>
          <p:nvPr/>
        </p:nvSpPr>
        <p:spPr>
          <a:xfrm>
            <a:off x="8100000" y="1296000"/>
            <a:ext cx="3600000" cy="3456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Этап 3 · Бортовая пара с машины</a:t>
            </a:r>
          </a:p>
          <a:p>
            <a:pPr algn="l">
              <a:spcAft>
                <a:spcPts val="800"/>
              </a:spcAft>
              <a:buNone/>
            </a:pPr>
            <a:r>
              <a:rPr lang="ru-RU" sz="1400" b="1" dirty="0">
                <a:solidFill>
                  <a:srgbClr val="2A8F4D"/>
                </a:solidFill>
                <a:latin typeface="Segoe UI"/>
                <a:cs typeface="Segoe UI"/>
              </a:rPr>
              <a:t>потенциал ±0,5–1 см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Массовый охват без остановки автомобиля. Математика проверена стендом 21/21; нужен калиброванный риг и пилот.</a:t>
            </a:r>
          </a:p>
        </p:txBody>
      </p:sp>
      <p:sp>
        <p:nvSpPr>
          <p:cNvPr id="8" name="t8"/>
          <p:cNvSpPr txBox="1"/>
          <p:nvPr/>
        </p:nvSpPr>
        <p:spPr>
          <a:xfrm>
            <a:off x="432000" y="5004000"/>
            <a:ext cx="11304000" cy="93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300" b="1" dirty="0">
                <a:solidFill>
                  <a:srgbClr val="151A21"/>
                </a:solidFill>
                <a:latin typeface="Segoe UI"/>
                <a:cs typeface="Segoe UI"/>
              </a:rPr>
              <a:t>Общее правило: каждое число выходит с полосой погрешности; если геометрия кадра проверок не прошла — система отказывает с указанием причины, но не выдумывает.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Уже сегодня, без новых выездов: категория «мелкая / средняя / глубокая» для каждой ямы; при люке ГОСТ 3634 в кадре (лаз Ø600 мм) — оценка d ≈ rel·W⊥ с полосой и пометкой «оценка, не для акта».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Этап 1 · Рейка + рулетка — ближайшие выезды (±0,5–1 см)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768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79400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Точка касания рейки и ленты лежит в плоскости ленты — параллакса нет. Статус: протокол утверждён, алгоритм ридера спроектирован (v1), реализация — ближайший цикл; включение в продукт — после полевой сверки на 5–10 ямах (цель — расхождение с ручным чтением ≤ 1 см).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Этап 2 · Серия кадров + маркерная доска (цель ±1–2 см)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768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79400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Доска известного размера даёт и масштаб, и позу камеры в каждом кадре; лучи из разных точек триангулируют дно. Цена метода — распечатанный лист и ~минута на съёмку. Проверка честности: глубина по независимым под-парам серии обязана совпадать (расхождение ≤ 1,5 см), иначе отказ.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Этап 3 · Бортовая пара с автомобиля — массовый охват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76800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79400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Синтетический стенд: 21 сценарий из 21, ошибка 0,0–0,3 см на номинале; яма с физически невидимым дном получает честный отказ. Полевой кейс 012 (1,4 см при факте 1–3 см) получен именно этим прототипом. Дальше — калиброванный риг на машине и обязательный пилот.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Как это работает в продукте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324048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426648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Всё офлайн: анализ на CPU, база SQLite и веб-интерфейс — на одной машине; интернет нужен только странице карты (Leaflet + тайлы OpenStreetMap). Загрузка по одному фото через браузер или партией (импорт готовых JSON-отчётов одной командой).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Экраны MVP — уже работает локально</a:t>
            </a:r>
          </a:p>
        </p:txBody>
      </p:sp>
      <p:pic>
        <p:nvPicPr>
          <p:cNvPr id="4" name="p4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00" y="936000"/>
            <a:ext cx="11304000" cy="4220160"/>
          </a:xfrm>
          <a:prstGeom prst="rect">
            <a:avLst/>
          </a:prstGeom>
          <a:ln w="9525">
            <a:solidFill>
              <a:srgbClr val="D7DBE1"/>
            </a:solidFill>
          </a:ln>
        </p:spPr>
      </p:pic>
      <p:sp>
        <p:nvSpPr>
          <p:cNvPr id="5" name="t5"/>
          <p:cNvSpPr txBox="1"/>
          <p:nvPr/>
        </p:nvSpPr>
        <p:spPr>
          <a:xfrm>
            <a:off x="432000" y="5246160"/>
            <a:ext cx="11304000" cy="612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Это не концепт: в демо-базе 48 реальных отчётов с координатами, в реестре 96 дефектов, корректность закреплена 379 автотестами. Статусы «новый → в работе → устранён», фильтр, карта, уведомления, выгрузка реестра в CSV. Числа на схеме условные.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Дальше по продукту — за рамками MVP</a:t>
            </a:r>
          </a:p>
        </p:txBody>
      </p:sp>
      <p:sp>
        <p:nvSpPr>
          <p:cNvPr id="4" name="t4"/>
          <p:cNvSpPr txBox="1"/>
          <p:nvPr/>
        </p:nvSpPr>
        <p:spPr>
          <a:xfrm>
            <a:off x="432000" y="1296000"/>
            <a:ext cx="3600000" cy="3744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8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Роли и участки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Привязка дефектов к участкам дорог и ответственным, вход по ролям (оператор / служба / руководитель) — уведомление сразу попадает нужному человеку.</a:t>
            </a:r>
          </a:p>
        </p:txBody>
      </p:sp>
      <p:sp>
        <p:nvSpPr>
          <p:cNvPr id="5" name="t5"/>
          <p:cNvSpPr txBox="1"/>
          <p:nvPr/>
        </p:nvSpPr>
        <p:spPr>
          <a:xfrm>
            <a:off x="4266000" y="1296000"/>
            <a:ext cx="3600000" cy="3744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8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Развёртывание у службы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Тот же интерфейс на сервере организации: загрузка с любых рабочих мест, общая база, регламентные выгрузки. Архитектура уже разделена — переезд без переписывания.</a:t>
            </a:r>
          </a:p>
        </p:txBody>
      </p:sp>
      <p:sp>
        <p:nvSpPr>
          <p:cNvPr id="6" name="t6"/>
          <p:cNvSpPr txBox="1"/>
          <p:nvPr/>
        </p:nvSpPr>
        <p:spPr>
          <a:xfrm>
            <a:off x="8100000" y="1296000"/>
            <a:ext cx="3600000" cy="3744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800"/>
              </a:spcAft>
              <a:buNone/>
            </a:pPr>
            <a:r>
              <a:rPr lang="ru-RU" sz="1500" b="1" dirty="0">
                <a:solidFill>
                  <a:srgbClr val="151A21"/>
                </a:solidFill>
                <a:latin typeface="Segoe UI"/>
                <a:cs typeface="Segoe UI"/>
              </a:rPr>
              <a:t>Съёмка по протоколу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50" b="0" dirty="0">
                <a:solidFill>
                  <a:srgbClr val="5B6673"/>
                </a:solidFill>
                <a:latin typeface="Segoe UI"/>
                <a:cs typeface="Segoe UI"/>
              </a:rPr>
              <a:t>Мобильный сценарий с подсказками кадра (обзорный + замерный), а дальше — автоматический поток с бортовых камер: дефекты встают на учёт без ручной загрузки.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32000" y="324000"/>
            <a:ext cx="360000" cy="360000"/>
          </a:xfrm>
          <a:prstGeom prst="roundRect">
            <a:avLst>
              <a:gd name="adj" fmla="val 6000"/>
            </a:avLst>
          </a:prstGeom>
          <a:solidFill>
            <a:srgbClr val="FF5A4D"/>
          </a:solidFill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3" name="t3"/>
          <p:cNvSpPr txBox="1"/>
          <p:nvPr/>
        </p:nvSpPr>
        <p:spPr>
          <a:xfrm>
            <a:off x="900000" y="259200"/>
            <a:ext cx="10872000" cy="504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t"/>
          <a:lstStyle/>
          <a:p>
            <a:pPr algn="l">
              <a:spcAft>
                <a:spcPts val="0"/>
              </a:spcAft>
              <a:buNone/>
            </a:pPr>
            <a:r>
              <a:rPr lang="ru-RU" sz="2600" b="1" dirty="0">
                <a:solidFill>
                  <a:srgbClr val="151A21"/>
                </a:solidFill>
                <a:latin typeface="Segoe UI"/>
                <a:cs typeface="Segoe UI"/>
              </a:rPr>
              <a:t>Честные границы</a:t>
            </a:r>
          </a:p>
        </p:txBody>
      </p:sp>
      <p:sp>
        <p:nvSpPr>
          <p:cNvPr id="4" name="t4"/>
          <p:cNvSpPr txBox="1"/>
          <p:nvPr/>
        </p:nvSpPr>
        <p:spPr>
          <a:xfrm>
            <a:off x="432000" y="1224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Сантиметры — только с эталоном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Размер в см считается лишь при объекте известного размера в кадре (люк ГОСТ 3634, разметка, линейка). Нет эталона — размеры в пикселях, с явной оговоркой.</a:t>
            </a:r>
          </a:p>
        </p:txBody>
      </p:sp>
      <p:sp>
        <p:nvSpPr>
          <p:cNvPr id="5" name="t5"/>
          <p:cNvSpPr txBox="1"/>
          <p:nvPr/>
        </p:nvSpPr>
        <p:spPr>
          <a:xfrm>
            <a:off x="6228000" y="1224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Глубину «голое» фото не даёт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По обычному снимку выдаётся только категория «мелкая / средняя / глубокая». Сантиметры глубины — из замерного кадра «рейка + рулетка» или серии с маркерной доской.</a:t>
            </a:r>
          </a:p>
        </p:txBody>
      </p:sp>
      <p:sp>
        <p:nvSpPr>
          <p:cNvPr id="6" name="t6"/>
          <p:cNvSpPr txBox="1"/>
          <p:nvPr/>
        </p:nvSpPr>
        <p:spPr>
          <a:xfrm>
            <a:off x="432000" y="3240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Пара — когда яма в кадре одна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Два ракурса связываются, только если в каждом кадре одна явная яма; иначе система отказывается сопоставлять. Лучше не связать, чем связать неверно.</a:t>
            </a:r>
          </a:p>
        </p:txBody>
      </p:sp>
      <p:sp>
        <p:nvSpPr>
          <p:cNvPr id="7" name="t7"/>
          <p:cNvSpPr txBox="1"/>
          <p:nvPr/>
        </p:nvSpPr>
        <p:spPr>
          <a:xfrm>
            <a:off x="6228000" y="3240000"/>
            <a:ext cx="5508000" cy="18720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D7DBE1"/>
            </a:solidFill>
          </a:ln>
        </p:spPr>
        <p:txBody>
          <a:bodyPr wrap="square" lIns="91440" rIns="91440" tIns="45720" bIns="45720" anchor="t"/>
          <a:lstStyle/>
          <a:p>
            <a:pPr algn="l">
              <a:spcAft>
                <a:spcPts val="600"/>
              </a:spcAft>
              <a:buNone/>
            </a:pPr>
            <a:r>
              <a:rPr lang="ru-RU" sz="1450" b="1" dirty="0">
                <a:solidFill>
                  <a:srgbClr val="151A21"/>
                </a:solidFill>
                <a:latin typeface="Segoe UI"/>
                <a:cs typeface="Segoe UI"/>
              </a:rPr>
              <a:t>Ложные срабатывания бывают</a:t>
            </a:r>
          </a:p>
          <a:p>
            <a:pPr algn="l">
              <a:spcAft>
                <a:spcPts val="0"/>
              </a:spcAft>
              <a:buNone/>
            </a:pPr>
            <a:r>
              <a:rPr lang="ru-RU" sz="1200" b="0" dirty="0">
                <a:solidFill>
                  <a:srgbClr val="5B6673"/>
                </a:solidFill>
                <a:latin typeface="Segoe UI"/>
                <a:cs typeface="Segoe UI"/>
              </a:rPr>
              <a:t>На полном кадре модель иногда метит колесо, тень или заделку как яму. Системное лекарство — дообучение на местных фото (запущено: eval-набор и разметка).</a:t>
            </a:r>
          </a:p>
        </p:txBody>
      </p:sp>
      <p:sp>
        <p:nvSpPr>
          <p:cNvPr id="8" name="t8"/>
          <p:cNvSpPr txBox="1"/>
          <p:nvPr/>
        </p:nvSpPr>
        <p:spPr>
          <a:xfrm>
            <a:off x="432000" y="5436000"/>
            <a:ext cx="11304000" cy="576000"/>
          </a:xfrm>
          <a:prstGeom prst="roundRect">
            <a:avLst>
              <a:gd name="adj" fmla="val 6000"/>
            </a:avLst>
          </a:prstGeom>
          <a:noFill/>
        </p:spPr>
        <p:txBody>
          <a:bodyPr wrap="square" lIns="91440" rIns="91440" tIns="45720" bIns="45720" anchor="ctr"/>
          <a:lstStyle/>
          <a:p>
            <a:pPr algn="ctr">
              <a:spcAft>
                <a:spcPts val="0"/>
              </a:spcAft>
              <a:buNone/>
            </a:pPr>
            <a:r>
              <a:rPr lang="ru-RU" sz="1600" b="1" dirty="0">
                <a:solidFill>
                  <a:srgbClr val="151A21"/>
                </a:solidFill>
                <a:latin typeface="Segoe UI"/>
                <a:cs typeface="Segoe UI"/>
              </a:rPr>
              <a:t>Система не выдаёт числа, которых физически не может знать.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d">
  <a:themeElements>
    <a:clrScheme name="rd">
      <a:dk1>
        <a:srgbClr val="151A21"/>
      </a:dk1>
      <a:lt1>
        <a:srgbClr val="FFFFFF"/>
      </a:lt1>
      <a:dk2>
        <a:srgbClr val="44546A"/>
      </a:dk2>
      <a:lt2>
        <a:srgbClr val="E7E6E6"/>
      </a:lt2>
      <a:accent1>
        <a:srgbClr val="FF5A4D"/>
      </a:accent1>
      <a:accent2>
        <a:srgbClr val="2A8F4D"/>
      </a:accent2>
      <a:accent3>
        <a:srgbClr val="2A78D6"/>
      </a:accent3>
      <a:accent4>
        <a:srgbClr val="EDA100"/>
      </a:accent4>
      <a:accent5>
        <a:srgbClr val="C62828"/>
      </a:accent5>
      <a:accent6>
        <a:srgbClr val="898781"/>
      </a:accent6>
      <a:hlink>
        <a:srgbClr val="2A78D6"/>
      </a:hlink>
      <a:folHlink>
        <a:srgbClr val="954F72"/>
      </a:folHlink>
    </a:clrScheme>
    <a:fontScheme name="rd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road_defect make_report_pptx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Дорожные дефекты глазами модели</dc:title>
  <dc:creator>Road Defect Engine</dc:creator>
  <dcterms:created xsi:type="dcterms:W3CDTF">2026-07-15T07:43:56Z</dcterms:created>
  <dcterms:modified xsi:type="dcterms:W3CDTF">2026-07-15T07:43:56Z</dcterms:modified>
</cp:coreProperties>
</file>